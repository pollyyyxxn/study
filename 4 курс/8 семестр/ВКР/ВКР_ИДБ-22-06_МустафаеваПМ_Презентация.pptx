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25" r:id="rId1"/>
    <p:sldMasterId id="2147484737" r:id="rId2"/>
  </p:sldMasterIdLst>
  <p:notesMasterIdLst>
    <p:notesMasterId r:id="rId24"/>
  </p:notesMasterIdLst>
  <p:sldIdLst>
    <p:sldId id="281" r:id="rId3"/>
    <p:sldId id="258" r:id="rId4"/>
    <p:sldId id="280" r:id="rId5"/>
    <p:sldId id="261" r:id="rId6"/>
    <p:sldId id="262" r:id="rId7"/>
    <p:sldId id="265" r:id="rId8"/>
    <p:sldId id="270" r:id="rId9"/>
    <p:sldId id="282" r:id="rId10"/>
    <p:sldId id="283" r:id="rId11"/>
    <p:sldId id="284" r:id="rId12"/>
    <p:sldId id="285" r:id="rId13"/>
    <p:sldId id="294" r:id="rId14"/>
    <p:sldId id="286" r:id="rId15"/>
    <p:sldId id="287" r:id="rId16"/>
    <p:sldId id="288" r:id="rId17"/>
    <p:sldId id="289" r:id="rId18"/>
    <p:sldId id="290" r:id="rId19"/>
    <p:sldId id="293" r:id="rId20"/>
    <p:sldId id="291" r:id="rId21"/>
    <p:sldId id="292" r:id="rId22"/>
    <p:sldId id="25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на Петруша" initials="АП" lastIdx="1" clrIdx="0">
    <p:extLst>
      <p:ext uri="{19B8F6BF-5375-455C-9EA6-DF929625EA0E}">
        <p15:presenceInfo xmlns:p15="http://schemas.microsoft.com/office/powerpoint/2012/main" userId="Анна Петруша" providerId="None"/>
      </p:ext>
    </p:extLst>
  </p:cmAuthor>
  <p:cmAuthor id="2" name="Петруша Анна Олеговна" initials="ПАО" lastIdx="8" clrIdx="1">
    <p:extLst>
      <p:ext uri="{19B8F6BF-5375-455C-9EA6-DF929625EA0E}">
        <p15:presenceInfo xmlns:p15="http://schemas.microsoft.com/office/powerpoint/2012/main" userId="S-1-5-21-3792381954-3941778001-3948360603-31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20" autoAdjust="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1273A28-D6D1-4A2A-B76C-1671E26759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F833FB-5257-4760-B212-2B8483EBB66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B7A9221-67E1-436B-8BFA-03351A439C7A}" type="datetimeFigureOut">
              <a:rPr lang="ru-RU"/>
              <a:pPr>
                <a:defRPr/>
              </a:pPr>
              <a:t>02.06.2026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05F0CD44-F22E-4B64-900B-B258AEA6D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0C309AEF-5EC6-4D82-9EF2-FC939DB9B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A4B716-1150-4276-A41B-9B05EF93AE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1C381D-C182-49BF-97EF-D7021C493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D52992D-1ECC-462A-B9BC-5085D0D27A4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8CA377-85CF-4E3D-A31B-5D98347479E5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396D8613-56CA-44E1-8762-AF81BE894223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06636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1C2FC3-4765-4CBF-AF3E-BC7E03AB5FB7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F46D6-2C66-4EFE-82F5-28C047877C00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88837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pPr>
              <a:defRPr/>
            </a:pPr>
            <a:fld id="{FA0CE348-D9C4-435F-A16A-C3944465332F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65FFFE7D-DFA2-4F66-AE97-FE9EDB715E3A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01218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7099C3-447D-4E8E-B39F-E39061910BF4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ABD40F-D02E-44D2-98FF-0576A377452F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87268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21CE8B-5017-4B6E-8C86-2D4AC718EBD6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D093F-6DEC-41DC-8619-D198BF3B3326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189007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C922DD-CA93-48C3-8A51-935F725719C0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DBD760-973F-473E-BFA3-A5D712EDD358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74729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6D8B-6B37-4E33-AFB9-EB4EE248010C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0F0F3D-CBD1-43ED-8DE9-E2C62FE3E479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36115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6AEFD-A312-4002-A2A8-7016B98DF88F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F1E111-A77D-4078-9C4D-3EC5614EA407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09635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0079AE-97E4-4229-86EB-0887704ABD08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FAF256-7F89-4DBE-BF1A-823207E7A0D5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43743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69DEDD-D069-402C-86E7-CEE22761C090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04F722-4586-4479-A206-39D4EAEE6A4C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02369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4BBC53-FBB3-4B1B-BAB7-4F406CA12483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1BE49-DD6D-4D4C-A0E9-C0A39D44DAF1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702591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A1E17-065E-4DDF-B2C6-DED528926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049BFF-C6AE-419D-9C51-DD5A2E12C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417BA6-F0E0-4F52-A11F-4D9E7B73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8CA377-85CF-4E3D-A31B-5D98347479E5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939898-B71D-40F8-AA0D-2819DBD8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D701EC-AC92-432D-A710-7BDC4F7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6D8613-56CA-44E1-8762-AF81BE894223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6302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44621-B290-4474-8088-955410C5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A13CC3-1150-4B5B-B819-BD5491D2B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CF7686-58CF-4CC6-B4BF-B179E92A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1C2FC3-4765-4CBF-AF3E-BC7E03AB5FB7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2AB08E-0C1D-435C-AD84-5992C101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692442-7703-47C9-9E89-DC5E00BF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F46D6-2C66-4EFE-82F5-28C047877C00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802406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C1B69-8654-440F-B37E-E86ECA58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CEEA83-F81E-4BC5-A884-85BCD1351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CC8D7B-8D58-4C6A-8E53-39F2B38D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0CE348-D9C4-435F-A16A-C3944465332F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6809BB-8E4A-4945-8F6A-13D54ACE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F80E37-B4E6-408B-9829-424EAE12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FFFE7D-DFA2-4F66-AE97-FE9EDB715E3A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036672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E0AD2-FF2A-4AB8-9B21-74D59AFE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6D6D6F-0E52-461B-8770-F2EB03CB8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AC87F7-6F45-4D09-ACDE-09D5AB990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8BED43-0E66-489A-BCAE-A79BA421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7099C3-447D-4E8E-B39F-E39061910BF4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F778A9-256A-4083-BFB9-E7A59FB6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6AA2AD-CBED-4D9E-81D2-3997C4A0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ABD40F-D02E-44D2-98FF-0576A377452F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527102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BCE86-2F65-4A1C-BAA5-804BBC8C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3E30D0-C4AD-49C1-841D-DE26635FF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1F52DF-C8A5-45FA-B31E-EA46EEF4D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E2F113-BC3B-4A88-938A-DE31B9C6E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4239CCE-F6E4-45D2-92C0-28A6C507C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C6FD324-811D-458C-BD46-D8532F78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21CE8B-5017-4B6E-8C86-2D4AC718EBD6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0FA42D-8FE2-4CE4-9195-DD637B4E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C43E71-EDE4-4AEC-992E-B5861A7C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D093F-6DEC-41DC-8619-D198BF3B3326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73487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9D35C-553E-470B-90A7-9D792BCC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D27EF9-8D70-42E2-A397-02F047A0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C922DD-CA93-48C3-8A51-935F725719C0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B78170-9356-4D12-AA90-C0C2AA7D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74F040-96F4-494E-A694-343BB804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DBD760-973F-473E-BFA3-A5D712EDD358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4314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A0D07B-05C7-4A1B-95E8-3CE71185D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616D8B-6B37-4E33-AFB9-EB4EE248010C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08B6CD-EDB9-4CA7-B399-0C6DDA9A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11EF86-6663-4E8E-BA18-332C831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0F0F3D-CBD1-43ED-8DE9-E2C62FE3E479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971067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3B594-7777-436E-8699-A6079C61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9AD2EE-D404-4118-9A61-AA1B37D5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15CFB4-6B1D-454D-93CD-CE299CF1E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06A3C-FF2A-4E0D-824E-BDEFAC3E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6AEFD-A312-4002-A2A8-7016B98DF88F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0561F2-C41F-4652-8A59-F6E18426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4DD83C-4E32-42C4-881C-48F6913B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F1E111-A77D-4078-9C4D-3EC5614EA407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8394475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8B5B4-CA03-4CB5-BED4-E2117EF9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31F95D-8CAF-4AB8-8825-68FD1C0EB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D510B0-6D97-4C38-AE0B-8F6FBC423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76AD0E-0D9D-4586-BFE2-106349C9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0079AE-97E4-4229-86EB-0887704ABD08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1B5880-65D8-42B5-9CE1-55E8842D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16A182-20BE-454D-85B1-9AD93D54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FAF256-7F89-4DBE-BF1A-823207E7A0D5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945401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D963F-4D41-44A4-A744-D072E744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B958D8-5E60-4C66-9518-544D44B77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E11808-5ED7-426F-B749-425ECEB1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69DEDD-D069-402C-86E7-CEE22761C090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35E617-1A72-4BA7-A997-7BE28E0A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4A9234-87DF-4618-8C4B-16E48A94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04F722-4586-4479-A206-39D4EAEE6A4C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652995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958EF68-734D-4D69-BD02-57492B324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7A9F55-50D7-4B37-BAAB-81BBB1DE6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F060D-5AA7-44C4-84EA-41D021AC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4BBC53-FBB3-4B1B-BAB7-4F406CA12483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8412E1-D124-4112-BBD1-4F43E0EAE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9FD5F7-5DFF-475E-A5EF-9598FC11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1BE49-DD6D-4D4C-A0E9-C0A39D44DAF1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5106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5180FDB-AF84-4FAD-AC08-71AF2195579A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E449FB4C-901F-40C6-9A99-677257622A3E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83468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6" r:id="rId1"/>
    <p:sldLayoutId id="2147484727" r:id="rId2"/>
    <p:sldLayoutId id="2147484728" r:id="rId3"/>
    <p:sldLayoutId id="2147484729" r:id="rId4"/>
    <p:sldLayoutId id="2147484730" r:id="rId5"/>
    <p:sldLayoutId id="2147484731" r:id="rId6"/>
    <p:sldLayoutId id="2147484732" r:id="rId7"/>
    <p:sldLayoutId id="2147484733" r:id="rId8"/>
    <p:sldLayoutId id="2147484734" r:id="rId9"/>
    <p:sldLayoutId id="2147484735" r:id="rId10"/>
    <p:sldLayoutId id="214748473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C201F-0072-4761-8868-30BA5F20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4CD757-BF50-41CA-801C-C82E16D1C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C222DB-978F-4389-93C2-21D4B972F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5180FDB-AF84-4FAD-AC08-71AF2195579A}" type="datetime1">
              <a:rPr lang="en-US" smtClean="0"/>
              <a:pPr>
                <a:defRPr/>
              </a:pPr>
              <a:t>6/2/2026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288C13-CDC6-4B15-A240-2CEA8B859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8DD926-C8DA-481E-B9E4-D14B7A2E0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449FB4C-901F-40C6-9A99-677257622A3E}" type="slidenum">
              <a:rPr lang="en-US" altLang="ru-RU" smtClean="0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366233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8" r:id="rId1"/>
    <p:sldLayoutId id="2147484739" r:id="rId2"/>
    <p:sldLayoutId id="2147484740" r:id="rId3"/>
    <p:sldLayoutId id="2147484741" r:id="rId4"/>
    <p:sldLayoutId id="2147484742" r:id="rId5"/>
    <p:sldLayoutId id="2147484743" r:id="rId6"/>
    <p:sldLayoutId id="2147484744" r:id="rId7"/>
    <p:sldLayoutId id="2147484745" r:id="rId8"/>
    <p:sldLayoutId id="2147484746" r:id="rId9"/>
    <p:sldLayoutId id="2147484747" r:id="rId10"/>
    <p:sldLayoutId id="214748474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AE32A5-CACD-455F-AFB4-F25C18F4EE28}"/>
              </a:ext>
            </a:extLst>
          </p:cNvPr>
          <p:cNvSpPr txBox="1"/>
          <p:nvPr/>
        </p:nvSpPr>
        <p:spPr>
          <a:xfrm>
            <a:off x="679448" y="2252844"/>
            <a:ext cx="10833100" cy="5400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Институт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информационных технологий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Кафедра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информационных систем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64959230-F119-4B94-B991-10993B76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Москва 202</a:t>
            </a:r>
            <a:r>
              <a:rPr lang="ru-RU" dirty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г.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E7BB8-1F37-5543-1904-093F8F01165B}"/>
              </a:ext>
            </a:extLst>
          </p:cNvPr>
          <p:cNvSpPr txBox="1"/>
          <p:nvPr/>
        </p:nvSpPr>
        <p:spPr>
          <a:xfrm>
            <a:off x="679448" y="3013501"/>
            <a:ext cx="10833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Выпускная квалификационная работа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на присвоение квалификации «бакалавр» по направлению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09.03.02 «Информационные системы и технологии»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775C8-0B79-7CC4-E28C-D1810CA4502F}"/>
              </a:ext>
            </a:extLst>
          </p:cNvPr>
          <p:cNvSpPr txBox="1"/>
          <p:nvPr/>
        </p:nvSpPr>
        <p:spPr>
          <a:xfrm>
            <a:off x="1219197" y="4311376"/>
            <a:ext cx="975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ru-RU" sz="1800" b="1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Тема: </a:t>
            </a:r>
            <a:r>
              <a:rPr lang="ru-RU" b="1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информационной системы анализа предпочтений пользователей при выборе кинопродукции для просмотра</a:t>
            </a:r>
            <a:r>
              <a:rPr lang="ru-RU" b="1" noProof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4A642FB0-5D96-7E1D-7927-BB9AB95C0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448" y="5307693"/>
            <a:ext cx="10833100" cy="828000"/>
          </a:xfrm>
        </p:spPr>
        <p:txBody>
          <a:bodyPr numCol="2" rtlCol="0">
            <a:noAutofit/>
          </a:bodyPr>
          <a:lstStyle/>
          <a:p>
            <a:pPr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Выполнил:</a:t>
            </a:r>
          </a:p>
          <a:p>
            <a:pPr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обучающийся группы ИДБ-2</a:t>
            </a:r>
            <a:r>
              <a:rPr lang="ru-RU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-0</a:t>
            </a:r>
            <a:r>
              <a:rPr lang="ru-RU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Мустафаева Полина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Махировна</a:t>
            </a:r>
            <a:endParaRPr lang="ru-RU" sz="1400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endParaRPr lang="ru-RU" sz="1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Руководитель: </a:t>
            </a:r>
          </a:p>
          <a:p>
            <a:pPr algn="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r>
              <a:rPr lang="ru-RU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т. </a:t>
            </a:r>
            <a:r>
              <a:rPr lang="ru-RU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реподаватель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defRPr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Быстрикова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Валерия Александровна</a:t>
            </a:r>
            <a:endParaRPr lang="ru-RU" sz="1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3" charset="2"/>
              <a:buNone/>
              <a:defRPr/>
            </a:pP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D9AC2A82-F554-41EB-B313-63ED0BF6F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0450" y="1212451"/>
            <a:ext cx="6851095" cy="1227138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  <a:b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</a:t>
            </a:r>
            <a:b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«Московский государственный технологический университет «СТАНКИН»</a:t>
            </a:r>
            <a:b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(ФГАОУ ВО «МГТУ «СТАНКИН»)</a:t>
            </a:r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F3E4A6-B688-455F-97CF-C207D8CA50A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684" y="500078"/>
            <a:ext cx="1952625" cy="570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E276DA85-1932-9D7E-A935-29B1FF313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43" y="477046"/>
            <a:ext cx="10784113" cy="1202286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Franklin Gothic Book" pitchFamily="34" charset="0"/>
              <a:buNone/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A2F752-2E6C-4B6A-A8F7-CF88C064A730}"/>
              </a:ext>
            </a:extLst>
          </p:cNvPr>
          <p:cNvSpPr txBox="1"/>
          <p:nvPr/>
        </p:nvSpPr>
        <p:spPr>
          <a:xfrm>
            <a:off x="1275816" y="1189119"/>
            <a:ext cx="964036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ea typeface="Astakhov First Simple Chaos!" panose="02000500000000000000" pitchFamily="2" charset="-52"/>
                <a:cs typeface="Times New Roman" panose="02020603050405020304" pitchFamily="18" charset="0"/>
              </a:rPr>
              <a:t>Цель исследования </a:t>
            </a:r>
            <a:r>
              <a:rPr lang="ru-RU" sz="2000" dirty="0">
                <a:latin typeface="Times New Roman" panose="02020603050405020304" pitchFamily="18" charset="0"/>
                <a:ea typeface="Astakhov First Simple Chaos!" panose="02000500000000000000" pitchFamily="2" charset="-52"/>
                <a:cs typeface="Times New Roman" panose="02020603050405020304" pitchFamily="18" charset="0"/>
              </a:rPr>
              <a:t>– информационная поддержка процесса выбора пользователями фильмов и сериалов для просмотра на основе создания аналитической информационной системы. 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процесс выбора кинопродукции для просмотра.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процесс анализа предпочтений пользователей при выборе кинопродукции для просмотра.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Задачи исследования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представлены ниже: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процесса выбора кинопродукции для просмотра и обоснование необходимости создания аналитической информационной системы предпочтений пользователей;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функциональных моделей и требований к информационной системе анализа предпочтений пользователей при выборе кинопродукции для просмотра;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системы анализа предпочтений пользователей при выборе кинопродукции для просмотра.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22531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73064" y="6248886"/>
            <a:ext cx="366346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E276DA85-1932-9D7E-A935-29B1FF313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43" y="477044"/>
            <a:ext cx="10784113" cy="5903912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Franklin Gothic Book" pitchFamily="34" charset="0"/>
              <a:buNone/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 в предметной области</a:t>
            </a:r>
          </a:p>
          <a:p>
            <a:pPr marL="0" indent="0" algn="just" eaLnBrk="1" fontAlgn="auto" hangingPunct="1">
              <a:spcAft>
                <a:spcPts val="0"/>
              </a:spcAft>
              <a:buFont typeface="Franklin Gothic Book" pitchFamily="34" charset="0"/>
              <a:buNone/>
              <a:defRPr/>
            </a:pPr>
            <a:endParaRPr lang="ru-RU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fontAlgn="auto" hangingPunct="1">
              <a:spcAft>
                <a:spcPts val="0"/>
              </a:spcAft>
              <a:buFont typeface="Franklin Gothic Book" pitchFamily="34" charset="0"/>
              <a:buNone/>
              <a:defRPr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AB7D4-3D25-4B26-8921-BFEC2232DD02}"/>
              </a:ext>
            </a:extLst>
          </p:cNvPr>
          <p:cNvSpPr txBox="1"/>
          <p:nvPr/>
        </p:nvSpPr>
        <p:spPr>
          <a:xfrm>
            <a:off x="1176611" y="2230558"/>
            <a:ext cx="9838776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89965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поиск кинопродукции;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89965" algn="l"/>
              </a:tabLst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ранение информации о просмотренных, избранных и планируемых к просмотру фильмах/сериалах;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89965" algn="l"/>
              </a:tabLst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опоставление интересов разных пользователей;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89965" algn="l"/>
              </a:tabLst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бмен рекомендациями и обсуждение контента.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3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73064" y="6248886"/>
            <a:ext cx="366346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88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2064E87-5D53-44BB-9ADD-FF9D7A53E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30635"/>
              </p:ext>
            </p:extLst>
          </p:nvPr>
        </p:nvGraphicFramePr>
        <p:xfrm>
          <a:off x="1176702" y="1389185"/>
          <a:ext cx="9877120" cy="4490201"/>
        </p:xfrm>
        <a:graphic>
          <a:graphicData uri="http://schemas.openxmlformats.org/drawingml/2006/table">
            <a:tbl>
              <a:tblPr firstRow="1" firstCol="1" bandRow="1" bandCol="1">
                <a:tableStyleId>{21E4AEA4-8DFA-4A89-87EB-49C32662AFE0}</a:tableStyleId>
              </a:tblPr>
              <a:tblGrid>
                <a:gridCol w="3026672">
                  <a:extLst>
                    <a:ext uri="{9D8B030D-6E8A-4147-A177-3AD203B41FA5}">
                      <a16:colId xmlns:a16="http://schemas.microsoft.com/office/drawing/2014/main" val="2660150227"/>
                    </a:ext>
                  </a:extLst>
                </a:gridCol>
                <a:gridCol w="1688140">
                  <a:extLst>
                    <a:ext uri="{9D8B030D-6E8A-4147-A177-3AD203B41FA5}">
                      <a16:colId xmlns:a16="http://schemas.microsoft.com/office/drawing/2014/main" val="3275902033"/>
                    </a:ext>
                  </a:extLst>
                </a:gridCol>
                <a:gridCol w="1701478">
                  <a:extLst>
                    <a:ext uri="{9D8B030D-6E8A-4147-A177-3AD203B41FA5}">
                      <a16:colId xmlns:a16="http://schemas.microsoft.com/office/drawing/2014/main" val="2482059381"/>
                    </a:ext>
                  </a:extLst>
                </a:gridCol>
                <a:gridCol w="1504709">
                  <a:extLst>
                    <a:ext uri="{9D8B030D-6E8A-4147-A177-3AD203B41FA5}">
                      <a16:colId xmlns:a16="http://schemas.microsoft.com/office/drawing/2014/main" val="4051452289"/>
                    </a:ext>
                  </a:extLst>
                </a:gridCol>
                <a:gridCol w="1956121">
                  <a:extLst>
                    <a:ext uri="{9D8B030D-6E8A-4147-A177-3AD203B41FA5}">
                      <a16:colId xmlns:a16="http://schemas.microsoft.com/office/drawing/2014/main" val="2730191779"/>
                    </a:ext>
                  </a:extLst>
                </a:gridCol>
              </a:tblGrid>
              <a:tr h="423029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</a:rPr>
                        <a:t>Функции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err="1">
                          <a:effectLst/>
                        </a:rPr>
                        <a:t>Иви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 err="1">
                          <a:effectLst/>
                        </a:rPr>
                        <a:t>Кинопоиск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err="1">
                          <a:effectLst/>
                        </a:rPr>
                        <a:t>Letterboxd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</a:rPr>
                        <a:t>Разрабатываемая</a:t>
                      </a:r>
                      <a:r>
                        <a:rPr lang="ru-RU" sz="1500" baseline="0" dirty="0">
                          <a:effectLst/>
                        </a:rPr>
                        <a:t> система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extLst>
                  <a:ext uri="{0D108BD9-81ED-4DB2-BD59-A6C34878D82A}">
                    <a16:rowId xmlns:a16="http://schemas.microsoft.com/office/drawing/2014/main" val="1924187198"/>
                  </a:ext>
                </a:extLst>
              </a:tr>
              <a:tr h="849963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</a:rPr>
                        <a:t>Поиск</a:t>
                      </a:r>
                      <a:r>
                        <a:rPr lang="ru-RU" sz="1500" baseline="0" dirty="0">
                          <a:effectLst/>
                        </a:rPr>
                        <a:t> кинопродукции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 + 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extLst>
                  <a:ext uri="{0D108BD9-81ED-4DB2-BD59-A6C34878D82A}">
                    <a16:rowId xmlns:a16="http://schemas.microsoft.com/office/drawing/2014/main" val="1860818201"/>
                  </a:ext>
                </a:extLst>
              </a:tr>
              <a:tr h="1226917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</a:rPr>
                        <a:t>Хранение информации о просмотренных, любимых и планируемых фильмах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extLst>
                  <a:ext uri="{0D108BD9-81ED-4DB2-BD59-A6C34878D82A}">
                    <a16:rowId xmlns:a16="http://schemas.microsoft.com/office/drawing/2014/main" val="1781718664"/>
                  </a:ext>
                </a:extLst>
              </a:tr>
              <a:tr h="1006998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</a:rPr>
                        <a:t>Сопоставление интересов пользователей (на основе коллекций)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</a:t>
                      </a: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–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extLst>
                  <a:ext uri="{0D108BD9-81ED-4DB2-BD59-A6C34878D82A}">
                    <a16:rowId xmlns:a16="http://schemas.microsoft.com/office/drawing/2014/main" val="854800937"/>
                  </a:ext>
                </a:extLst>
              </a:tr>
              <a:tr h="949123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effectLst/>
                        </a:rPr>
                        <a:t>Коммуникация между пользователями</a:t>
                      </a:r>
                      <a:endParaRPr lang="ru-RU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–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ru-RU" sz="2400" b="0" kern="1200" dirty="0">
                          <a:effectLst/>
                          <a:latin typeface="+mj-lt"/>
                        </a:rPr>
                        <a:t>–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400" b="0" kern="1200" dirty="0">
                          <a:effectLst/>
                          <a:latin typeface="+mj-lt"/>
                        </a:rPr>
                        <a:t>+</a:t>
                      </a:r>
                      <a:endParaRPr lang="ru-RU" sz="2400" b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5407" marR="65407" marT="0" marB="0" anchor="ctr"/>
                </a:tc>
                <a:extLst>
                  <a:ext uri="{0D108BD9-81ED-4DB2-BD59-A6C34878D82A}">
                    <a16:rowId xmlns:a16="http://schemas.microsoft.com/office/drawing/2014/main" val="24572664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7BA1E90-30CF-45D8-88C5-B67AE4ACE90A}"/>
              </a:ext>
            </a:extLst>
          </p:cNvPr>
          <p:cNvSpPr txBox="1"/>
          <p:nvPr/>
        </p:nvSpPr>
        <p:spPr>
          <a:xfrm>
            <a:off x="3397569" y="625309"/>
            <a:ext cx="5396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систем-аналогов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73064" y="6248886"/>
            <a:ext cx="366346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3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E99639D-8A55-4357-8FB4-13C371362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934" y="1297434"/>
            <a:ext cx="10388125" cy="463358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Нормативно-техническая документация</a:t>
            </a: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 Р ИСО/МЭК 12207-2010 «Информационная технология. Системная и программная инженерия. Процессы жизненного цикла» .</a:t>
            </a: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 Р ИСО/МЭК 25010-2015 «Информационная технология. Системная и программная инженерия. Требования и оценка качества систем и программного обеспечения (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SQuaRE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Модели качества систем и программных продуктов». </a:t>
            </a: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ГОСТ 34.602-2020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Информационная технология. Комплекс стандартов на автоматизированные системы. Техническое задание на создание автоматизированной системы».</a:t>
            </a: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Правовая документация</a:t>
            </a:r>
          </a:p>
          <a:p>
            <a:pPr>
              <a:buClrTx/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Ф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едеральный закон РФ от 27 июля 2006 года №152-ФЗ «О персональных данных»</a:t>
            </a:r>
          </a:p>
          <a:p>
            <a:pPr>
              <a:buClrTx/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Федеральный закон от 27 июля 2006 г. N 149-ФЗ «Об информации, информационных технологиях и о защите информации»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99E91-88A3-4667-A7B4-788BD901C8AF}"/>
              </a:ext>
            </a:extLst>
          </p:cNvPr>
          <p:cNvSpPr txBox="1"/>
          <p:nvPr/>
        </p:nvSpPr>
        <p:spPr>
          <a:xfrm>
            <a:off x="3354830" y="298939"/>
            <a:ext cx="5482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Нормативная документация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73064" y="6248886"/>
            <a:ext cx="366346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99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59CD6E8-6279-46AB-8350-7146BBB02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416" y="1789220"/>
            <a:ext cx="7814977" cy="37434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ClrTx/>
              <a:buNone/>
            </a:pPr>
            <a:endParaRPr lang="ru-RU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поиск и получение информации о кинопродукции;</a:t>
            </a: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персональными коллекциями;</a:t>
            </a: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просмотр коллекций других пользователей;</a:t>
            </a: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пересечений коллекций и расчет процента их схожести;</a:t>
            </a: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формирование списка пользователей с близкими предпочтениями;</a:t>
            </a:r>
          </a:p>
          <a:p>
            <a:pPr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обмен сообщениями с пользователями через встроенный чат.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D14C8-5D46-43A0-B555-0FEAF298F074}"/>
              </a:ext>
            </a:extLst>
          </p:cNvPr>
          <p:cNvSpPr txBox="1"/>
          <p:nvPr/>
        </p:nvSpPr>
        <p:spPr>
          <a:xfrm>
            <a:off x="1162416" y="415388"/>
            <a:ext cx="98671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требований к целевым функциям программного продукта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73064" y="6248886"/>
            <a:ext cx="366346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44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3664477" y="194924"/>
            <a:ext cx="4863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модель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73064" y="6248886"/>
            <a:ext cx="366346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EE3D8F-0DE2-4625-AE83-307C8C23A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686" y="779699"/>
            <a:ext cx="8192210" cy="539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9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3664475" y="220091"/>
            <a:ext cx="4863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модель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73064" y="6248886"/>
            <a:ext cx="366346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520A3F-74A5-426B-A244-9E31077B03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57" r="4923" b="6804"/>
          <a:stretch/>
        </p:blipFill>
        <p:spPr>
          <a:xfrm>
            <a:off x="914179" y="1040234"/>
            <a:ext cx="10419546" cy="504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6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2483259" y="220091"/>
            <a:ext cx="7225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B7EE54-F599-4095-A020-B45FD3EE97E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980" y="1151752"/>
            <a:ext cx="8731482" cy="502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0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4310201" y="220091"/>
            <a:ext cx="35716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реализации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FC7797-1BE3-4B16-AF9B-4D6409B8DE78}"/>
              </a:ext>
            </a:extLst>
          </p:cNvPr>
          <p:cNvSpPr txBox="1"/>
          <p:nvPr/>
        </p:nvSpPr>
        <p:spPr>
          <a:xfrm>
            <a:off x="4569620" y="1621637"/>
            <a:ext cx="3153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289D8-747B-42C1-8962-2FCF496B17F6}"/>
              </a:ext>
            </a:extLst>
          </p:cNvPr>
          <p:cNvSpPr txBox="1"/>
          <p:nvPr/>
        </p:nvSpPr>
        <p:spPr>
          <a:xfrm>
            <a:off x="882242" y="1621637"/>
            <a:ext cx="22615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CB1E2-7DC6-486B-AA26-6BB9B4491B57}"/>
              </a:ext>
            </a:extLst>
          </p:cNvPr>
          <p:cNvSpPr txBox="1"/>
          <p:nvPr/>
        </p:nvSpPr>
        <p:spPr>
          <a:xfrm>
            <a:off x="9471170" y="1621637"/>
            <a:ext cx="891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6180C62-4CB0-44ED-9B59-99AC5012F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46" y="2651619"/>
            <a:ext cx="2532077" cy="253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D56C7347-234F-401C-BA7B-F9C64CB1C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594" y="2436722"/>
            <a:ext cx="2872809" cy="2872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8" descr="Picture background">
            <a:extLst>
              <a:ext uri="{FF2B5EF4-FFF2-40B4-BE49-F238E27FC236}">
                <a16:creationId xmlns:a16="http://schemas.microsoft.com/office/drawing/2014/main" id="{86034655-3B89-46E4-A491-07A1986659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C83C4B4C-2C95-41C1-90C8-7A9E68CDC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909" y="2210750"/>
            <a:ext cx="3227345" cy="322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7D342B-E5C6-4A26-BD80-199A858BDD83}"/>
              </a:ext>
            </a:extLst>
          </p:cNvPr>
          <p:cNvSpPr txBox="1"/>
          <p:nvPr/>
        </p:nvSpPr>
        <p:spPr>
          <a:xfrm>
            <a:off x="5676652" y="5236059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41E468-AFCE-4269-A590-16FEFDC3F410}"/>
              </a:ext>
            </a:extLst>
          </p:cNvPr>
          <p:cNvSpPr txBox="1"/>
          <p:nvPr/>
        </p:nvSpPr>
        <p:spPr>
          <a:xfrm>
            <a:off x="991964" y="5236059"/>
            <a:ext cx="1771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1B7B46-9C68-4CE0-8F70-59B81FAB7D6D}"/>
              </a:ext>
            </a:extLst>
          </p:cNvPr>
          <p:cNvSpPr txBox="1"/>
          <p:nvPr/>
        </p:nvSpPr>
        <p:spPr>
          <a:xfrm>
            <a:off x="9547235" y="5236059"/>
            <a:ext cx="1051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660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3590422" y="220091"/>
            <a:ext cx="5011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2BF9CE-3899-4A96-95CA-84E275A5444A}"/>
              </a:ext>
            </a:extLst>
          </p:cNvPr>
          <p:cNvPicPr/>
          <p:nvPr/>
        </p:nvPicPr>
        <p:blipFill rotWithShape="1">
          <a:blip r:embed="rId3"/>
          <a:srcRect t="5444" b="2999"/>
          <a:stretch/>
        </p:blipFill>
        <p:spPr>
          <a:xfrm>
            <a:off x="2872873" y="993970"/>
            <a:ext cx="6446254" cy="487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63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4173149" y="220091"/>
            <a:ext cx="38457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2A0501-86DA-4568-B30E-6DA4485F9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589" y="804866"/>
            <a:ext cx="9184821" cy="525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53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2001849" y="220091"/>
            <a:ext cx="8188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авторизации и главного экрана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595987-3F6D-4334-983F-045EFEDEEE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6"/>
          <a:stretch/>
        </p:blipFill>
        <p:spPr>
          <a:xfrm>
            <a:off x="639224" y="1107346"/>
            <a:ext cx="3168624" cy="504467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51665B-1132-432E-8531-49A992BC5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149" y="1107346"/>
            <a:ext cx="3168624" cy="506979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A0E31F-02FF-435C-A453-9141F12B7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74" y="1107346"/>
            <a:ext cx="3202835" cy="51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39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638179" y="220091"/>
            <a:ext cx="10915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коллекций, поиска и добавления в коллекции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471766-5CF3-4789-9F3C-43298A481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9" y="1124350"/>
            <a:ext cx="3202835" cy="512453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820F870-82AA-49AD-AF6A-AF6732572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001" y="1124350"/>
            <a:ext cx="3202834" cy="512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C7113F6-5D83-4AA3-84A1-66885FDAA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823" y="1124351"/>
            <a:ext cx="3202834" cy="512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920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1649544" y="220091"/>
            <a:ext cx="8892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профиля и настройки приватности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EF8F59-DBFB-4035-8F40-3C01B1254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379" y="1025788"/>
            <a:ext cx="3219713" cy="515154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AC691A-15F9-40BC-AD25-34F47AC21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131" y="1025788"/>
            <a:ext cx="3219713" cy="515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74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1571476" y="220091"/>
            <a:ext cx="90490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поиска людей и просмотра профиля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80C6E4-D088-4A8D-A109-8FCE663E1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05" y="1072876"/>
            <a:ext cx="3190282" cy="51044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534034-12A1-406E-A0C2-EA8E25E34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346" y="1072876"/>
            <a:ext cx="3190282" cy="510445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EC1EFB-74D8-42BA-B96D-8F0C3B60E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687" y="1072877"/>
            <a:ext cx="3190282" cy="510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53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828617" y="220091"/>
            <a:ext cx="10534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просмотра коллекций другого пользователя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E60F51-ACE4-4EE5-A09E-7787D1A32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335" y="1034876"/>
            <a:ext cx="3214032" cy="514245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692BBB4-4899-4A79-99EF-84F61BECF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267" y="1034876"/>
            <a:ext cx="3214032" cy="514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358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828617" y="220091"/>
            <a:ext cx="105348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просмотра коллекций другого пользователя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723E0B-C785-47DA-BB44-AD93E20AC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38" y="1034876"/>
            <a:ext cx="3214032" cy="51424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3E2167-EC2F-425F-B723-BEF8AEAB7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016" y="1034876"/>
            <a:ext cx="3214032" cy="514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61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4405772" y="220091"/>
            <a:ext cx="3380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чатов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076D6A-A9B7-488B-8C0D-D6776DF75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60" y="1169510"/>
            <a:ext cx="3091290" cy="494606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CF5FE6-E598-40B1-AD2C-FDEC2BFF2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214" y="1169510"/>
            <a:ext cx="3091290" cy="49460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E6E38F-2971-49AE-B3BA-80C960595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620" y="1169510"/>
            <a:ext cx="3091290" cy="4946064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BC36927-EDC8-4F1E-80F0-548F6C78BF3F}"/>
              </a:ext>
            </a:extLst>
          </p:cNvPr>
          <p:cNvSpPr/>
          <p:nvPr/>
        </p:nvSpPr>
        <p:spPr>
          <a:xfrm>
            <a:off x="844574" y="2752847"/>
            <a:ext cx="2982523" cy="411061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461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4ABF4-4EC7-4A81-A131-3E6F9C6B925D}"/>
              </a:ext>
            </a:extLst>
          </p:cNvPr>
          <p:cNvSpPr txBox="1"/>
          <p:nvPr/>
        </p:nvSpPr>
        <p:spPr>
          <a:xfrm>
            <a:off x="4874171" y="220091"/>
            <a:ext cx="2443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67910" y="6248886"/>
            <a:ext cx="571500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BF50D8-13C6-4D9A-9885-B45528047D64}"/>
              </a:ext>
            </a:extLst>
          </p:cNvPr>
          <p:cNvSpPr txBox="1"/>
          <p:nvPr/>
        </p:nvSpPr>
        <p:spPr>
          <a:xfrm>
            <a:off x="838510" y="985937"/>
            <a:ext cx="1071515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реализации программного продукта в рамках выпускной квалификационной работы были выполнены следующие задачи:</a:t>
            </a:r>
            <a:endParaRPr lang="en-US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первой главе проведён 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связанной с выбором кинопродукции, 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 обзор существующих информационных систем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выявлены их недостатки, а также 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проанализированы нормативно-правовые документы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 второй главе определены 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целевому программному продукту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функциональные модели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информационной системы в нотации IDEF0.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третьей главе было проведено 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информационной системы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 выбор средств реализации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выполнено </a:t>
            </a: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реализованы модули аутентификации, поиска, коллекций и подбора пользователей и чатов.</a:t>
            </a:r>
          </a:p>
        </p:txBody>
      </p:sp>
    </p:spTree>
    <p:extLst>
      <p:ext uri="{BB962C8B-B14F-4D97-AF65-F5344CB8AC3E}">
        <p14:creationId xmlns:p14="http://schemas.microsoft.com/office/powerpoint/2010/main" val="2541682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E9DB4C4-B845-45BB-BF33-6B014E4E3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126" y="2855303"/>
            <a:ext cx="9781748" cy="644036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Franklin Gothic Book" pitchFamily="34" charset="0"/>
              <a:buNone/>
              <a:defRPr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487" y="6177329"/>
            <a:ext cx="571500" cy="552450"/>
          </a:xfrm>
          <a:prstGeom prst="rect">
            <a:avLst/>
          </a:prstGeom>
        </p:spPr>
      </p:pic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969EFAAD-9A2F-4BD9-9E6C-570107EF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227777" y="6248886"/>
            <a:ext cx="611633" cy="404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ru-RU" alt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US" alt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8980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10702</TotalTime>
  <Words>610</Words>
  <Application>Microsoft Office PowerPoint</Application>
  <PresentationFormat>Широкоэкранный</PresentationFormat>
  <Paragraphs>124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Franklin Gothic Book</vt:lpstr>
      <vt:lpstr>Rockwell</vt:lpstr>
      <vt:lpstr>Rockwell Condensed</vt:lpstr>
      <vt:lpstr>Times New Roman</vt:lpstr>
      <vt:lpstr>Wingdings</vt:lpstr>
      <vt:lpstr>Wingdings 3</vt:lpstr>
      <vt:lpstr>Дерево</vt:lpstr>
      <vt:lpstr>Тема Office</vt:lpstr>
      <vt:lpstr>МИНОБРНАУКИ РОССИИ федеральное государственное автономное образовательное учреждение  высшего образования  «Московский государственный технологический университет «СТАНКИН» (ФГАОУ ВО «МГТУ «СТАНКИН»)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кафедры ИС</dc:title>
  <dc:creator>Анна Петруша</dc:creator>
  <cp:keywords>За оформление и двор - стреляем в упор</cp:keywords>
  <cp:lastModifiedBy>Полина Мустафаева</cp:lastModifiedBy>
  <cp:revision>233</cp:revision>
  <dcterms:created xsi:type="dcterms:W3CDTF">2020-04-15T17:33:39Z</dcterms:created>
  <dcterms:modified xsi:type="dcterms:W3CDTF">2026-06-02T16:29:45Z</dcterms:modified>
</cp:coreProperties>
</file>