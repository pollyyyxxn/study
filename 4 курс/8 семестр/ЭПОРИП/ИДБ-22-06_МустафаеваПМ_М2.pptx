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Agency FB" panose="020B0503020202020204" pitchFamily="34" charset="0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Source Sans 3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5"/>
    <a:srgbClr val="FE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461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C2BD77-F59F-4FD8-A8C9-B2D50F1573D2}"/>
              </a:ext>
            </a:extLst>
          </p:cNvPr>
          <p:cNvSpPr/>
          <p:nvPr/>
        </p:nvSpPr>
        <p:spPr>
          <a:xfrm>
            <a:off x="-911610" y="-1237377"/>
            <a:ext cx="6686899" cy="106349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Text 0"/>
          <p:cNvSpPr/>
          <p:nvPr/>
        </p:nvSpPr>
        <p:spPr>
          <a:xfrm>
            <a:off x="6425922" y="826265"/>
            <a:ext cx="7264956" cy="2516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SmartTask — </a:t>
            </a:r>
            <a:r>
              <a:rPr lang="en-US" sz="52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автоматическое</a:t>
            </a:r>
            <a:r>
              <a:rPr lang="en-US" sz="52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52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планирование</a:t>
            </a:r>
            <a:r>
              <a:rPr lang="en-US" sz="52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задач</a:t>
            </a:r>
            <a:endParaRPr lang="en-US" sz="5250" dirty="0">
              <a:latin typeface="Agency FB" panose="020B0503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25922" y="5359717"/>
            <a:ext cx="7264956" cy="429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>
              <a:latin typeface="Agency FB" panose="020B0503020202020204" pitchFamily="34" charset="0"/>
            </a:endParaRPr>
          </a:p>
        </p:txBody>
      </p:sp>
      <p:sp>
        <p:nvSpPr>
          <p:cNvPr id="6" name="AutoShape 4" descr="Сформированное изображение: Женщина за ноутбуком в светлом помещении">
            <a:extLst>
              <a:ext uri="{FF2B5EF4-FFF2-40B4-BE49-F238E27FC236}">
                <a16:creationId xmlns:a16="http://schemas.microsoft.com/office/drawing/2014/main" id="{AAE991BB-5163-EFAC-862A-37B4BAED28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84C41D8-1855-6CB3-D7C9-1471D9A9E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9FFC5E7-E311-3575-53FA-C05064C7E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2971" y="7667058"/>
            <a:ext cx="1680993" cy="4572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C30890-FCF8-40ED-94FA-F8014E0DC6A5}"/>
              </a:ext>
            </a:extLst>
          </p:cNvPr>
          <p:cNvSpPr txBox="1"/>
          <p:nvPr/>
        </p:nvSpPr>
        <p:spPr>
          <a:xfrm>
            <a:off x="6370555" y="4080113"/>
            <a:ext cx="648241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  <a:t>Подготовили студенты группы ИДБ-22-06</a:t>
            </a:r>
            <a:b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</a:br>
            <a: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  <a:t>Брылякова Е. А.</a:t>
            </a:r>
            <a:b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</a:br>
            <a: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  <a:t>Мустафаева П. М.</a:t>
            </a:r>
            <a:b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</a:br>
            <a: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  <a:t>Букатов А. Е.</a:t>
            </a:r>
            <a:b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</a:br>
            <a:r>
              <a:rPr lang="ru-RU" sz="2800" dirty="0">
                <a:solidFill>
                  <a:srgbClr val="124E73"/>
                </a:solidFill>
                <a:ea typeface="MuseoModerno Medium" pitchFamily="34" charset="-122"/>
              </a:rPr>
              <a:t>Прокофьеа А. Д.</a:t>
            </a:r>
            <a:endParaRPr lang="ru-KZ" sz="2800" dirty="0">
              <a:solidFill>
                <a:srgbClr val="124E73"/>
              </a:solidFill>
              <a:ea typeface="MuseoModerno Medium" pitchFamily="34" charset="-122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A56CFA-7899-4B55-BBAE-30702F26DABC}"/>
              </a:ext>
            </a:extLst>
          </p:cNvPr>
          <p:cNvSpPr/>
          <p:nvPr/>
        </p:nvSpPr>
        <p:spPr>
          <a:xfrm>
            <a:off x="6064179" y="3688701"/>
            <a:ext cx="7626699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18C757-751A-47DD-B76B-F3912C84F977}"/>
              </a:ext>
            </a:extLst>
          </p:cNvPr>
          <p:cNvSpPr/>
          <p:nvPr/>
        </p:nvSpPr>
        <p:spPr>
          <a:xfrm>
            <a:off x="119230" y="41226"/>
            <a:ext cx="7075390" cy="5215095"/>
          </a:xfrm>
          <a:prstGeom prst="roundRect">
            <a:avLst/>
          </a:prstGeom>
          <a:solidFill>
            <a:srgbClr val="FEFD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FD6344-FECE-4396-BD58-ACC71ED9F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8537" y="7629441"/>
            <a:ext cx="1924319" cy="60015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59715" y="365731"/>
            <a:ext cx="6594420" cy="53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Программа «SmartTask» предназначена для автоматического планирования задач пользователя с учётом его занятости, сроков выполнения и важности дел. Она сама распределяет задачи и определяет, в какой последовательности их лучше выполнять. Программа анализирует поведение пользователя, например, как быстро он выполняет задачи и насколько загружен, и на основе этого может менять план в реальном времени. В отличие от обычных планировщиков, она учитывает не только сроки, но и текущую ситуацию – срочность задач, уровень нагрузки и даже возможную усталость пользователя. Это позволяет более гибко и точно выстраивать план работы. В результате повышается продуктивность и снижается вероятность пропуска дедлайнов. Также программа помогает избежать перегрузки и уменьшает неэффективное использование времени. Главное её преимущество в том, что она автоматически принимает решения и избавляет пользователя от необходимости вручную планировать задачи.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CE1807-C153-6D6C-24B9-AC5F61A7F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893926"/>
            <a:ext cx="7075390" cy="521509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DF8CC0-704D-49FB-87DE-CFC72E584A74}"/>
              </a:ext>
            </a:extLst>
          </p:cNvPr>
          <p:cNvSpPr/>
          <p:nvPr/>
        </p:nvSpPr>
        <p:spPr>
          <a:xfrm>
            <a:off x="-432079" y="6337300"/>
            <a:ext cx="6594421" cy="2527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9184A4-3975-4889-AA61-987B80CA13AA}"/>
              </a:ext>
            </a:extLst>
          </p:cNvPr>
          <p:cNvSpPr/>
          <p:nvPr/>
        </p:nvSpPr>
        <p:spPr>
          <a:xfrm>
            <a:off x="8470900" y="-723899"/>
            <a:ext cx="6686899" cy="27686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64CE714-B815-4484-8E46-62874E047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5164" y="6711910"/>
            <a:ext cx="1952898" cy="1514686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613D8EC-81FA-42A2-B428-1A7B6C8CCE85}"/>
              </a:ext>
            </a:extLst>
          </p:cNvPr>
          <p:cNvSpPr/>
          <p:nvPr/>
        </p:nvSpPr>
        <p:spPr>
          <a:xfrm>
            <a:off x="975853" y="5936965"/>
            <a:ext cx="12678692" cy="85975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BAD90FB-DC56-4EC5-A498-63778F9E213E}"/>
              </a:ext>
            </a:extLst>
          </p:cNvPr>
          <p:cNvSpPr/>
          <p:nvPr/>
        </p:nvSpPr>
        <p:spPr>
          <a:xfrm>
            <a:off x="975854" y="4733275"/>
            <a:ext cx="12678693" cy="929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BFB477-E355-488A-B028-DA62A6440206}"/>
              </a:ext>
            </a:extLst>
          </p:cNvPr>
          <p:cNvSpPr/>
          <p:nvPr/>
        </p:nvSpPr>
        <p:spPr>
          <a:xfrm>
            <a:off x="975853" y="3599494"/>
            <a:ext cx="12678693" cy="8619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18EC831-3B82-4DA7-95B5-952B171C0E26}"/>
              </a:ext>
            </a:extLst>
          </p:cNvPr>
          <p:cNvSpPr/>
          <p:nvPr/>
        </p:nvSpPr>
        <p:spPr>
          <a:xfrm>
            <a:off x="975853" y="2045393"/>
            <a:ext cx="12678694" cy="12822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" name="Text 0"/>
          <p:cNvSpPr/>
          <p:nvPr/>
        </p:nvSpPr>
        <p:spPr>
          <a:xfrm>
            <a:off x="2113775" y="275422"/>
            <a:ext cx="104028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Объекты интеллектуальной собственности</a:t>
            </a:r>
            <a:endParaRPr lang="en-US" sz="4450" dirty="0">
              <a:latin typeface="Agency FB" panose="020B0503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70446" y="2523145"/>
            <a:ext cx="4802149" cy="436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Программа для ЭВМ (</a:t>
            </a: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</a:rPr>
              <a:t>авторское</a:t>
            </a: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право)</a:t>
            </a:r>
            <a:endParaRPr lang="en-US" sz="2200" dirty="0">
              <a:latin typeface="Agency FB" panose="020B0503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48271" y="2113233"/>
            <a:ext cx="3831926" cy="1201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2B4150"/>
                </a:solidFill>
                <a:latin typeface="Agency FB" panose="020B0503020202020204" pitchFamily="34" charset="0"/>
              </a:rPr>
              <a:t>Исходный код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2B4150"/>
                </a:solidFill>
                <a:latin typeface="Agency FB" panose="020B0503020202020204" pitchFamily="34" charset="0"/>
              </a:rPr>
              <a:t>Алгоритмы обработки данных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2B4150"/>
                </a:solidFill>
                <a:latin typeface="Agency FB" panose="020B0503020202020204" pitchFamily="34" charset="0"/>
              </a:rPr>
              <a:t>интерфейс</a:t>
            </a:r>
            <a:endParaRPr lang="en-US" sz="1750" dirty="0">
              <a:latin typeface="Agency FB" panose="020B0503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076427" y="5826780"/>
            <a:ext cx="18805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076427" y="6688674"/>
            <a:ext cx="188059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71519" y="3840915"/>
            <a:ext cx="4621113" cy="379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База данных (авторское право)</a:t>
            </a:r>
            <a:endParaRPr lang="en-US" sz="2200" dirty="0">
              <a:latin typeface="Agency FB" panose="020B0503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348271" y="3586573"/>
            <a:ext cx="283643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Структура </a:t>
            </a:r>
            <a:r>
              <a:rPr lang="en-US" sz="1750" dirty="0" err="1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хранения</a:t>
            </a:r>
            <a:r>
              <a:rPr lang="en-US" sz="1750" dirty="0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750" dirty="0" err="1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задач</a:t>
            </a:r>
            <a:endParaRPr lang="en-US" sz="1750" dirty="0">
              <a:solidFill>
                <a:srgbClr val="2B4150"/>
              </a:solidFill>
              <a:latin typeface="Agency FB" panose="020B0503020202020204" pitchFamily="34" charset="0"/>
              <a:ea typeface="Source Sans 3" pitchFamily="34" charset="-122"/>
              <a:cs typeface="Source Sans 3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 err="1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организация</a:t>
            </a:r>
            <a:r>
              <a:rPr lang="en-US" sz="1750" dirty="0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 данных.</a:t>
            </a: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70446" y="5004792"/>
            <a:ext cx="3666519" cy="38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Изобретение (патент)</a:t>
            </a:r>
            <a:endParaRPr lang="en-US" sz="2200" dirty="0">
              <a:latin typeface="Agency FB" panose="020B0503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348271" y="4987384"/>
            <a:ext cx="7306276" cy="85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Способ автоматизированного динамического перераспределения задач.</a:t>
            </a: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171518" y="6189682"/>
            <a:ext cx="2234629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Товарный знак</a:t>
            </a:r>
            <a:endParaRPr lang="en-US" sz="2200" dirty="0">
              <a:latin typeface="Agency FB" panose="020B0503020202020204" pitchFamily="34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348270" y="6174526"/>
            <a:ext cx="348246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srgbClr val="2B4150"/>
                </a:solidFill>
                <a:latin typeface="Agency FB" panose="020B0503020202020204" pitchFamily="34" charset="0"/>
                <a:ea typeface="Source Sans 3" pitchFamily="34" charset="-122"/>
                <a:cs typeface="Source Sans 3" pitchFamily="34" charset="-120"/>
              </a:rPr>
              <a:t>Название программы «SmartTask».</a:t>
            </a:r>
            <a:endParaRPr lang="en-US" sz="1750" dirty="0">
              <a:latin typeface="Agency FB" panose="020B05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C6AF5F-D35A-4BDC-9546-9A7B5FE5522C}"/>
              </a:ext>
            </a:extLst>
          </p:cNvPr>
          <p:cNvSpPr txBox="1"/>
          <p:nvPr/>
        </p:nvSpPr>
        <p:spPr>
          <a:xfrm>
            <a:off x="2416527" y="720490"/>
            <a:ext cx="9463049" cy="1087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50"/>
              </a:lnSpc>
            </a:pPr>
            <a:r>
              <a:rPr lang="ru-RU" sz="2400" dirty="0">
                <a:solidFill>
                  <a:srgbClr val="124E73"/>
                </a:solidFill>
                <a:ea typeface="MuseoModerno Medium" pitchFamily="34" charset="-122"/>
              </a:rPr>
              <a:t>В рамках данного программного продукта подлежат правовой защите:</a:t>
            </a:r>
            <a:endParaRPr lang="ru-KZ" sz="2400" dirty="0">
              <a:solidFill>
                <a:srgbClr val="124E73"/>
              </a:solidFill>
              <a:ea typeface="MuseoModerno Medium" pitchFamily="34" charset="-122"/>
            </a:endParaRPr>
          </a:p>
          <a:p>
            <a:endParaRPr lang="ru-K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DBA23E5-5A98-4CEB-9F74-4DD5C403B336}"/>
              </a:ext>
            </a:extLst>
          </p:cNvPr>
          <p:cNvSpPr/>
          <p:nvPr/>
        </p:nvSpPr>
        <p:spPr>
          <a:xfrm>
            <a:off x="469902" y="6501912"/>
            <a:ext cx="1079494" cy="299219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D6288E5-092F-49A0-82EB-E47143F26B40}"/>
              </a:ext>
            </a:extLst>
          </p:cNvPr>
          <p:cNvSpPr/>
          <p:nvPr/>
        </p:nvSpPr>
        <p:spPr>
          <a:xfrm>
            <a:off x="469902" y="5594608"/>
            <a:ext cx="6578589" cy="12324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6F5342D-3CB0-4791-80E2-6134D39D6AFD}"/>
              </a:ext>
            </a:extLst>
          </p:cNvPr>
          <p:cNvSpPr/>
          <p:nvPr/>
        </p:nvSpPr>
        <p:spPr>
          <a:xfrm>
            <a:off x="5196349" y="1425052"/>
            <a:ext cx="9059913" cy="540205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16424BB-0466-4137-BD34-F6478639630A}"/>
              </a:ext>
            </a:extLst>
          </p:cNvPr>
          <p:cNvSpPr/>
          <p:nvPr/>
        </p:nvSpPr>
        <p:spPr>
          <a:xfrm>
            <a:off x="248891" y="1493234"/>
            <a:ext cx="4650247" cy="3806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Text 0"/>
          <p:cNvSpPr/>
          <p:nvPr/>
        </p:nvSpPr>
        <p:spPr>
          <a:xfrm>
            <a:off x="4227934" y="341608"/>
            <a:ext cx="5641114" cy="7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Макет заявки на </a:t>
            </a:r>
            <a:r>
              <a:rPr lang="en-US" sz="44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патент</a:t>
            </a:r>
            <a:endParaRPr lang="en-US" sz="4450" dirty="0">
              <a:latin typeface="Agency FB" panose="020B05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53D04-1B5C-4AEC-B8B4-A2A224AB9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8423" y="7548564"/>
            <a:ext cx="1971950" cy="6810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4C2130-E8AA-4B86-B985-3BEEA8F463B0}"/>
              </a:ext>
            </a:extLst>
          </p:cNvPr>
          <p:cNvSpPr txBox="1"/>
          <p:nvPr/>
        </p:nvSpPr>
        <p:spPr>
          <a:xfrm>
            <a:off x="625588" y="2051232"/>
            <a:ext cx="3809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1. Название изобретения</a:t>
            </a:r>
            <a:endParaRPr lang="ru-KZ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36D61-4155-4CE1-831E-54B8073A9D97}"/>
              </a:ext>
            </a:extLst>
          </p:cNvPr>
          <p:cNvSpPr txBox="1"/>
          <p:nvPr/>
        </p:nvSpPr>
        <p:spPr>
          <a:xfrm>
            <a:off x="625588" y="2420564"/>
            <a:ext cx="427355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50"/>
              </a:lnSpc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Способ адаптивного автоматизированного распределения задач пользователя с учетом динамического изменения параметров среды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endParaRPr lang="ru-K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BE735-C757-497F-9B55-9B308C83CB4A}"/>
              </a:ext>
            </a:extLst>
          </p:cNvPr>
          <p:cNvSpPr txBox="1"/>
          <p:nvPr/>
        </p:nvSpPr>
        <p:spPr>
          <a:xfrm>
            <a:off x="5797552" y="1717366"/>
            <a:ext cx="4343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2. Описание изобретения</a:t>
            </a:r>
            <a:endParaRPr lang="ru-KZ" sz="2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ru-KZ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10A5C-A421-4A13-9577-274D0F737775}"/>
              </a:ext>
            </a:extLst>
          </p:cNvPr>
          <p:cNvSpPr txBox="1"/>
          <p:nvPr/>
        </p:nvSpPr>
        <p:spPr>
          <a:xfrm>
            <a:off x="5797552" y="2092532"/>
            <a:ext cx="8458712" cy="4319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Область техники</a:t>
            </a:r>
            <a:endParaRPr lang="ru-KZ" sz="2200" b="1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Изобретение относится к области компьютерных технологий, обработки данных и систем управления задачами пользователя.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Уровень техники</a:t>
            </a:r>
            <a:endParaRPr lang="ru-KZ" sz="2200" b="1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Известны программные средства планирования задач, которые позволяют вручную задавать приоритеты и сроки выполнения.</a:t>
            </a:r>
            <a:b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</a:b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Недостатками данных решений являются: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отсутствие автоматического перераспределения задач;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невозможность учета изменения состояния пользователя;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статичность планирования;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высокая зависимость от ручного ввода данных.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endParaRPr lang="ru-KZ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273134B-0BF4-4FCB-A4D7-E40F59BE36A4}"/>
              </a:ext>
            </a:extLst>
          </p:cNvPr>
          <p:cNvCxnSpPr>
            <a:cxnSpLocks/>
          </p:cNvCxnSpPr>
          <p:nvPr/>
        </p:nvCxnSpPr>
        <p:spPr>
          <a:xfrm>
            <a:off x="5613402" y="1888365"/>
            <a:ext cx="0" cy="431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3AD893-9B04-48DD-89FD-49667FB6F3BE}"/>
              </a:ext>
            </a:extLst>
          </p:cNvPr>
          <p:cNvCxnSpPr>
            <a:cxnSpLocks/>
          </p:cNvCxnSpPr>
          <p:nvPr/>
        </p:nvCxnSpPr>
        <p:spPr>
          <a:xfrm>
            <a:off x="5613402" y="2282065"/>
            <a:ext cx="19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3C10FB-4515-49B9-9DE4-5CBADD487E68}"/>
              </a:ext>
            </a:extLst>
          </p:cNvPr>
          <p:cNvCxnSpPr>
            <a:cxnSpLocks/>
          </p:cNvCxnSpPr>
          <p:nvPr/>
        </p:nvCxnSpPr>
        <p:spPr>
          <a:xfrm>
            <a:off x="5613402" y="1888365"/>
            <a:ext cx="1925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4869587-071F-4B2F-B3FD-E497A536C342}"/>
              </a:ext>
            </a:extLst>
          </p:cNvPr>
          <p:cNvCxnSpPr>
            <a:cxnSpLocks/>
          </p:cNvCxnSpPr>
          <p:nvPr/>
        </p:nvCxnSpPr>
        <p:spPr>
          <a:xfrm flipH="1">
            <a:off x="1016002" y="6207496"/>
            <a:ext cx="4597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F6791BF-05DD-41D1-B37B-33418EDA05CE}"/>
              </a:ext>
            </a:extLst>
          </p:cNvPr>
          <p:cNvCxnSpPr>
            <a:cxnSpLocks/>
          </p:cNvCxnSpPr>
          <p:nvPr/>
        </p:nvCxnSpPr>
        <p:spPr>
          <a:xfrm>
            <a:off x="1016002" y="6207496"/>
            <a:ext cx="0" cy="30989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8A7C6A-4740-4AE5-AE7A-F5FC76D9A292}"/>
              </a:ext>
            </a:extLst>
          </p:cNvPr>
          <p:cNvCxnSpPr>
            <a:cxnSpLocks/>
          </p:cNvCxnSpPr>
          <p:nvPr/>
        </p:nvCxnSpPr>
        <p:spPr>
          <a:xfrm>
            <a:off x="5613402" y="3385407"/>
            <a:ext cx="19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21CDD72-E520-44C7-815D-A4BC2B2A6896}"/>
              </a:ext>
            </a:extLst>
          </p:cNvPr>
          <p:cNvSpPr/>
          <p:nvPr/>
        </p:nvSpPr>
        <p:spPr>
          <a:xfrm>
            <a:off x="1343026" y="1200818"/>
            <a:ext cx="2892404" cy="8819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6D169B8-B0DE-43DD-B96F-FBF39C89C4A7}"/>
              </a:ext>
            </a:extLst>
          </p:cNvPr>
          <p:cNvSpPr/>
          <p:nvPr/>
        </p:nvSpPr>
        <p:spPr>
          <a:xfrm>
            <a:off x="2660609" y="1200818"/>
            <a:ext cx="10960179" cy="59634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3" name="Text 1"/>
          <p:cNvSpPr/>
          <p:nvPr/>
        </p:nvSpPr>
        <p:spPr>
          <a:xfrm>
            <a:off x="793790" y="4338161"/>
            <a:ext cx="8342233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250" dirty="0">
              <a:latin typeface="Agency FB" panose="020B0503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E0F4D2-456E-4FB8-847E-3F68BD1427AC}"/>
              </a:ext>
            </a:extLst>
          </p:cNvPr>
          <p:cNvSpPr/>
          <p:nvPr/>
        </p:nvSpPr>
        <p:spPr>
          <a:xfrm>
            <a:off x="3097163" y="1457744"/>
            <a:ext cx="10377537" cy="5449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Сущность изобретения</a:t>
            </a:r>
            <a:endParaRPr lang="ru-KZ" sz="2200" b="1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Техническая задача:</a:t>
            </a:r>
            <a:b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</a:b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повышение эффективности распределения задач и снижение вероятности нарушения сроков их выполнения.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Решение:</a:t>
            </a:r>
            <a:b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</a:b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предлагается способ автоматизированного распределения задач, включающий: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сбор входных данных (список задач, сроки, приоритеты);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анализ параметров пользователя (загрузка, активность, история выполнения);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вычисление коэффициента приоритета каждой задачи;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динамическое перераспределение задач при изменении параметров;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формирование обновленного плана выполнения.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r>
              <a:rPr lang="ru-RU" sz="2200" b="1" dirty="0">
                <a:solidFill>
                  <a:srgbClr val="2B4150"/>
                </a:solidFill>
                <a:ea typeface="MuseoModerno Medium" pitchFamily="34" charset="-122"/>
              </a:rPr>
              <a:t>Технический результат:</a:t>
            </a:r>
            <a:endParaRPr lang="ru-KZ" sz="2200" b="1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повышение эффективности использования времени;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снижение перегрузки пользователя; 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 lvl="0" indent="-28575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увеличение вероятности своевременного выполнения задач</a:t>
            </a:r>
            <a:r>
              <a:rPr lang="en-US" sz="2200" dirty="0">
                <a:solidFill>
                  <a:srgbClr val="2B4150"/>
                </a:solidFill>
                <a:latin typeface="Agency FB" panose="020B0503020202020204" pitchFamily="34" charset="0"/>
                <a:ea typeface="MuseoModerno Medium" pitchFamily="34" charset="-122"/>
              </a:rPr>
              <a:t>.</a:t>
            </a:r>
            <a:endParaRPr lang="ru-KZ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47F7BF9-1499-4466-BD84-0A1BC9D3BC76}"/>
              </a:ext>
            </a:extLst>
          </p:cNvPr>
          <p:cNvSpPr/>
          <p:nvPr/>
        </p:nvSpPr>
        <p:spPr>
          <a:xfrm>
            <a:off x="469862" y="-338349"/>
            <a:ext cx="1143037" cy="24211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10D9789-5C82-4313-BADB-8F2FE5E95FE9}"/>
              </a:ext>
            </a:extLst>
          </p:cNvPr>
          <p:cNvCxnSpPr>
            <a:cxnSpLocks/>
            <a:stCxn id="21" idx="0"/>
          </p:cNvCxnSpPr>
          <p:nvPr/>
        </p:nvCxnSpPr>
        <p:spPr>
          <a:xfrm flipH="1">
            <a:off x="1009611" y="-338349"/>
            <a:ext cx="31770" cy="1963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9B9CA2-C904-4716-BC18-261D90CFDC00}"/>
              </a:ext>
            </a:extLst>
          </p:cNvPr>
          <p:cNvCxnSpPr>
            <a:cxnSpLocks/>
          </p:cNvCxnSpPr>
          <p:nvPr/>
        </p:nvCxnSpPr>
        <p:spPr>
          <a:xfrm>
            <a:off x="1009610" y="1625600"/>
            <a:ext cx="2108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E6464535-DC5B-4BDB-96EC-3B65A3FF8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979" y="7484665"/>
            <a:ext cx="2068522" cy="744935"/>
          </a:xfrm>
          <a:prstGeom prst="rect">
            <a:avLst/>
          </a:prstGeom>
        </p:spPr>
      </p:pic>
      <p:sp>
        <p:nvSpPr>
          <p:cNvPr id="38" name="Text 0">
            <a:extLst>
              <a:ext uri="{FF2B5EF4-FFF2-40B4-BE49-F238E27FC236}">
                <a16:creationId xmlns:a16="http://schemas.microsoft.com/office/drawing/2014/main" id="{5D2F3AC1-1B99-490A-A16F-BB2F7E1A3F44}"/>
              </a:ext>
            </a:extLst>
          </p:cNvPr>
          <p:cNvSpPr/>
          <p:nvPr/>
        </p:nvSpPr>
        <p:spPr>
          <a:xfrm>
            <a:off x="2526721" y="234361"/>
            <a:ext cx="9576957" cy="7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Макет заявки </a:t>
            </a:r>
            <a:r>
              <a:rPr lang="en-US" sz="44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на</a:t>
            </a: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патент</a:t>
            </a: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(</a:t>
            </a:r>
            <a:r>
              <a:rPr lang="ru-RU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продолжение)</a:t>
            </a:r>
            <a:endParaRPr lang="en-US" sz="445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2F64789-22E8-4937-B1FF-76641B1EA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289" y="6524387"/>
            <a:ext cx="3839111" cy="1705213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170D10-8124-4C4E-92F7-25FC465249F6}"/>
              </a:ext>
            </a:extLst>
          </p:cNvPr>
          <p:cNvSpPr/>
          <p:nvPr/>
        </p:nvSpPr>
        <p:spPr>
          <a:xfrm>
            <a:off x="2785243" y="2237806"/>
            <a:ext cx="9059913" cy="428658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5EC695-83A3-4E4E-93E3-3CA4621CF7FE}"/>
              </a:ext>
            </a:extLst>
          </p:cNvPr>
          <p:cNvSpPr txBox="1"/>
          <p:nvPr/>
        </p:nvSpPr>
        <p:spPr>
          <a:xfrm>
            <a:off x="3085843" y="2528383"/>
            <a:ext cx="4343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3</a:t>
            </a:r>
            <a:r>
              <a:rPr lang="ru-RU" sz="2400" b="1" dirty="0">
                <a:solidFill>
                  <a:schemeClr val="accent1">
                    <a:lumMod val="75000"/>
                  </a:schemeClr>
                </a:solidFill>
              </a:rPr>
              <a:t>. Формула изобретения</a:t>
            </a:r>
            <a:endParaRPr lang="ru-KZ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8A8EDD-E464-43A0-996E-4B6825F808DE}"/>
              </a:ext>
            </a:extLst>
          </p:cNvPr>
          <p:cNvSpPr txBox="1"/>
          <p:nvPr/>
        </p:nvSpPr>
        <p:spPr>
          <a:xfrm>
            <a:off x="3085843" y="3118115"/>
            <a:ext cx="8458712" cy="3308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750"/>
              </a:lnSpc>
            </a:pPr>
            <a:r>
              <a:rPr lang="ru-RU" sz="2200" dirty="0">
                <a:solidFill>
                  <a:srgbClr val="2B4150"/>
                </a:solidFill>
                <a:ea typeface="MuseoModerno Medium" pitchFamily="34" charset="-122"/>
              </a:rPr>
              <a:t>Способ автоматизированного распределения задач пользователя, включающий сбор данных о задачах и их параметрах, анализ входной информации и формирование плана выполнения задач, отличающийся тем, что дополнительно осуществляют вычисление коэффициента приоритета задач на основе параметров пользователя и перераспределение задач в реальном времени при изменении указанных параметров с последующим обновлением плана выполнения.</a:t>
            </a: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  <a:p>
            <a:pPr>
              <a:lnSpc>
                <a:spcPts val="2750"/>
              </a:lnSpc>
            </a:pPr>
            <a:endParaRPr lang="ru-KZ" sz="2200" dirty="0">
              <a:solidFill>
                <a:srgbClr val="2B4150"/>
              </a:solidFill>
              <a:ea typeface="MuseoModerno Medium" pitchFamily="34" charset="-122"/>
            </a:endParaRPr>
          </a:p>
        </p:txBody>
      </p:sp>
      <p:sp>
        <p:nvSpPr>
          <p:cNvPr id="26" name="Text 0">
            <a:extLst>
              <a:ext uri="{FF2B5EF4-FFF2-40B4-BE49-F238E27FC236}">
                <a16:creationId xmlns:a16="http://schemas.microsoft.com/office/drawing/2014/main" id="{5396B22D-2F81-44F0-BC47-3DECF5267649}"/>
              </a:ext>
            </a:extLst>
          </p:cNvPr>
          <p:cNvSpPr/>
          <p:nvPr/>
        </p:nvSpPr>
        <p:spPr>
          <a:xfrm>
            <a:off x="2526721" y="547914"/>
            <a:ext cx="9576957" cy="77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Макет заявки </a:t>
            </a:r>
            <a:r>
              <a:rPr lang="en-US" sz="44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на</a:t>
            </a: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</a:t>
            </a:r>
            <a:r>
              <a:rPr lang="en-US" sz="4450" dirty="0" err="1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патент</a:t>
            </a:r>
            <a:r>
              <a:rPr lang="en-US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 (</a:t>
            </a:r>
            <a:r>
              <a:rPr lang="ru-RU" sz="4450" dirty="0">
                <a:solidFill>
                  <a:srgbClr val="124E73"/>
                </a:solidFill>
                <a:latin typeface="Agency FB" panose="020B0503020202020204" pitchFamily="34" charset="0"/>
                <a:ea typeface="MuseoModerno Medium" pitchFamily="34" charset="-122"/>
                <a:cs typeface="MuseoModerno Medium" pitchFamily="34" charset="-120"/>
              </a:rPr>
              <a:t>продолжение)</a:t>
            </a:r>
            <a:endParaRPr lang="en-US" sz="4450" dirty="0"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478</Words>
  <Application>Microsoft Office PowerPoint</Application>
  <PresentationFormat>Custom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Agency FB</vt:lpstr>
      <vt:lpstr>Source Sans 3</vt:lpstr>
      <vt:lpstr>Calibri</vt:lpstr>
      <vt:lpstr>Arial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Bukatik</dc:creator>
  <cp:lastModifiedBy>Bukatik</cp:lastModifiedBy>
  <cp:revision>20</cp:revision>
  <dcterms:created xsi:type="dcterms:W3CDTF">2026-04-02T12:56:43Z</dcterms:created>
  <dcterms:modified xsi:type="dcterms:W3CDTF">2026-04-02T15:31:12Z</dcterms:modified>
</cp:coreProperties>
</file>